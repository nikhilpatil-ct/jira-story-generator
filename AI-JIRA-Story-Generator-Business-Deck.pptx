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200" b="1">
                <a:solidFill>
                  <a:srgbClr val="1F2937"/>
                </a:solidFill>
                <a:latin typeface="Segoe UI"/>
              </a:defRPr>
            </a:pPr>
            <a:r>
              <a:t>Where a BA's backlog time goes today (illustrative)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8B5CF6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Writing stories &amp; ACs</c:v>
                </c:pt>
                <c:pt idx="1">
                  <c:v>Meetings &amp; discovery</c:v>
                </c:pt>
                <c:pt idx="2">
                  <c:v>Estimation &amp; grooming</c:v>
                </c:pt>
                <c:pt idx="3">
                  <c:v>Review &amp; rework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20</c:v>
                </c:pt>
                <c:pt idx="2">
                  <c:v>12</c:v>
                </c:pt>
                <c:pt idx="3">
                  <c:v>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  <a:latin typeface="Segoe UI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050">
              <a:latin typeface="Segoe UI"/>
            </a:defRPr>
          </a:pPr>
        </a:p>
      </c:txPr>
    </c:legend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 effort per story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Minutes per story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9</c:v>
                </c:pt>
              </c:numCache>
            </c:numRef>
          </c:val>
        </c:ser>
        <c:dLbls>
          <c:numFmt formatCode="0&quot; min&quot;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 hours per month (team of 250 stories)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Hours / month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188</c:v>
                </c:pt>
                <c:pt idx="1">
                  <c:v>38</c:v>
                </c:pt>
              </c:numCache>
            </c:numRef>
          </c:val>
        </c:ser>
        <c:dLbls>
          <c:numFmt formatCode="0&quot; hrs&quot;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Estimated annual billing savings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dPt>
            <c:idx val="0"/>
            <c:spPr>
              <a:solidFill>
                <a:srgbClr val="4F46E5"/>
              </a:solidFill>
            </c:spPr>
          </c:dPt>
          <c:dPt>
            <c:idx val="1"/>
            <c:spPr>
              <a:solidFill>
                <a:srgbClr val="4F46E5"/>
              </a:solidFill>
            </c:spPr>
          </c:dPt>
          <c:dPt>
            <c:idx val="2"/>
            <c:spPr>
              <a:solidFill>
                <a:srgbClr val="10B981"/>
              </a:solidFill>
            </c:spPr>
          </c:dPt>
          <c:dPt>
            <c:idx val="3"/>
            <c:spPr>
              <a:solidFill>
                <a:srgbClr val="059669"/>
              </a:solidFill>
            </c:spPr>
          </c:dPt>
          <c:cat>
            <c:strRef>
              <c:f>Sheet1!$A$2:$A$5</c:f>
              <c:strCache>
                <c:ptCount val="4"/>
                <c:pt idx="0">
                  <c:v>1 team</c:v>
                </c:pt>
                <c:pt idx="1">
                  <c:v>4 teams</c:v>
                </c:pt>
                <c:pt idx="2">
                  <c:v>8 teams</c:v>
                </c:pt>
                <c:pt idx="3">
                  <c:v>12 teams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126000</c:v>
                </c:pt>
                <c:pt idx="1">
                  <c:v>504000</c:v>
                </c:pt>
                <c:pt idx="2">
                  <c:v>1008000</c:v>
                </c:pt>
                <c:pt idx="3">
                  <c:v>1512000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F2937"/>
                </a:solidFill>
                <a:latin typeface="Segoe UI"/>
              </a:defRPr>
            </a:pPr>
            <a:r>
              <a:t>Backlog throughput per BA per day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Stories / BA / day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cat>
            <c:strRef>
              <c:f>Sheet1!$A$2:$A$3</c:f>
              <c:strCache>
                <c:ptCount val="2"/>
                <c:pt idx="0">
                  <c:v>Manual</c:v>
                </c:pt>
                <c:pt idx="1">
                  <c:v>AI-assisted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1F2937"/>
                  </a:solidFill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108192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1051560"/>
            <a:ext cx="201168" cy="20116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105156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44752" y="1051560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"/>
              </a:rPr>
              <a:t>AI JIRA Story Generator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7CBE8"/>
                </a:solidFill>
                <a:latin typeface="Segoe UI"/>
              </a:rPr>
              <a:t>From meeting notes, transcripts, and BRDs to a validated, sprint-ready backlog — in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77639"/>
            <a:ext cx="219456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Business Case  &amp;  Competitive Overview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EA4C9"/>
                </a:solidFill>
                <a:latin typeface="Segoe UI"/>
              </a:rPr>
              <a:t>An autonomous business-analyst agent that drafts, grounds, questions, validates, and files work items — with the guardrails enterprises need.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636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7CBE8"/>
                </a:solidFill>
                <a:latin typeface="Segoe UI"/>
              </a:rPr>
              <a:t>Prepared for internal review  ·  Illustrative business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Turning conversations into a backlog is slow, manual, and inconsistent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6692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Hours of skilled BA time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every meeting's notes are hand-crafted into stories, ACs, and estimates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Inconsistent quality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structure, acceptance criteria, and INVEST rigor vary by author and by day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Detail is lost — or invented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gaps get filled with guesses, creating rework and mid-sprint surprises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Compliance risk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raw notes with names, emails, and PHI get pasted into generic AI tools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450" b="1">
                <a:solidFill>
                  <a:srgbClr val="4F46E5"/>
                </a:solidFill>
                <a:latin typeface="Segoe UI"/>
              </a:rPr>
              <a:t>●  </a:t>
            </a:r>
            <a:r>
              <a:rPr sz="1450" b="1">
                <a:solidFill>
                  <a:srgbClr val="1F2937"/>
                </a:solidFill>
                <a:latin typeface="Segoe UI"/>
              </a:rPr>
              <a:t>Backlog is a bottleneck</a:t>
            </a:r>
            <a:r>
              <a:rPr sz="1350" b="0">
                <a:solidFill>
                  <a:srgbClr val="6B7280"/>
                </a:solidFill>
                <a:latin typeface="Segoe UI"/>
              </a:rPr>
              <a:t>  —  delivery waits on the person who writes the tickets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720840" y="1920240"/>
          <a:ext cx="48463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An AI business-analyst agent that does the whole job —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Paste a meeting transcript or upload a BRD, spec, or feature description. The agent auto-detects the source type, cleans and de-identifies the text, understands the request in context of your applications, drafts well-formed JIRA items, asks you when it is unsure, scores every item for quality, refines the weak ones, and files them straight into JIRA.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63240"/>
            <a:ext cx="2651760" cy="5486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Extracts epics, stories, bugs, risks &amp; open questions from messy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65576" y="3063240"/>
            <a:ext cx="2651760" cy="5486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Grounds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Uses your app knowledge base — not generic guesses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45352" y="3063240"/>
            <a:ext cx="2651760" cy="5486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Asks targeted questions instead of hallucinating details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3063240"/>
            <a:ext cx="2651760" cy="22860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5128" y="3063240"/>
            <a:ext cx="2651760" cy="548640"/>
          </a:xfrm>
          <a:prstGeom prst="round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08008" y="315468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Validates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08008" y="3840480"/>
            <a:ext cx="2286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INVEST scoring, auto-refine, and a quality gate before filing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A ten-stage pipeline with guardrails built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685800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1. Ingest transcript / BRD</a:t>
            </a:r>
          </a:p>
        </p:txBody>
      </p:sp>
      <p:sp>
        <p:nvSpPr>
          <p:cNvPr id="8" name="Chevron 7"/>
          <p:cNvSpPr/>
          <p:nvPr/>
        </p:nvSpPr>
        <p:spPr>
          <a:xfrm>
            <a:off x="2898648" y="21488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2. Redact PII</a:t>
            </a:r>
          </a:p>
        </p:txBody>
      </p:sp>
      <p:sp>
        <p:nvSpPr>
          <p:cNvPr id="9" name="Chevron 8"/>
          <p:cNvSpPr/>
          <p:nvPr/>
        </p:nvSpPr>
        <p:spPr>
          <a:xfrm>
            <a:off x="5111496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3. Translate</a:t>
            </a:r>
          </a:p>
        </p:txBody>
      </p:sp>
      <p:sp>
        <p:nvSpPr>
          <p:cNvPr id="10" name="Chevron 9"/>
          <p:cNvSpPr/>
          <p:nvPr/>
        </p:nvSpPr>
        <p:spPr>
          <a:xfrm>
            <a:off x="7324344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4. Extract</a:t>
            </a:r>
          </a:p>
        </p:txBody>
      </p:sp>
      <p:sp>
        <p:nvSpPr>
          <p:cNvPr id="11" name="Chevron 10"/>
          <p:cNvSpPr/>
          <p:nvPr/>
        </p:nvSpPr>
        <p:spPr>
          <a:xfrm>
            <a:off x="9537192" y="21488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5. Ground in context</a:t>
            </a:r>
          </a:p>
        </p:txBody>
      </p:sp>
      <p:sp>
        <p:nvSpPr>
          <p:cNvPr id="12" name="Chevron 11"/>
          <p:cNvSpPr/>
          <p:nvPr/>
        </p:nvSpPr>
        <p:spPr>
          <a:xfrm>
            <a:off x="685800" y="35204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6. Draft (parallel)</a:t>
            </a:r>
          </a:p>
        </p:txBody>
      </p:sp>
      <p:sp>
        <p:nvSpPr>
          <p:cNvPr id="13" name="Chevron 12"/>
          <p:cNvSpPr/>
          <p:nvPr/>
        </p:nvSpPr>
        <p:spPr>
          <a:xfrm>
            <a:off x="2898648" y="35204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7. Ask if unsure</a:t>
            </a:r>
          </a:p>
        </p:txBody>
      </p:sp>
      <p:sp>
        <p:nvSpPr>
          <p:cNvPr id="14" name="Chevron 13"/>
          <p:cNvSpPr/>
          <p:nvPr/>
        </p:nvSpPr>
        <p:spPr>
          <a:xfrm>
            <a:off x="5111496" y="3520440"/>
            <a:ext cx="2084831" cy="914400"/>
          </a:xfrm>
          <a:prstGeom prst="chevron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8. Validate &amp; score</a:t>
            </a:r>
          </a:p>
        </p:txBody>
      </p:sp>
      <p:sp>
        <p:nvSpPr>
          <p:cNvPr id="15" name="Chevron 14"/>
          <p:cNvSpPr/>
          <p:nvPr/>
        </p:nvSpPr>
        <p:spPr>
          <a:xfrm>
            <a:off x="7324344" y="3520440"/>
            <a:ext cx="2084831" cy="91440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9. Refine</a:t>
            </a:r>
          </a:p>
        </p:txBody>
      </p:sp>
      <p:sp>
        <p:nvSpPr>
          <p:cNvPr id="16" name="Chevron 15"/>
          <p:cNvSpPr/>
          <p:nvPr/>
        </p:nvSpPr>
        <p:spPr>
          <a:xfrm>
            <a:off x="9537192" y="3520440"/>
            <a:ext cx="2084831" cy="914400"/>
          </a:xfrm>
          <a:prstGeom prst="chevron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10. Create in JIRA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5074920"/>
            <a:ext cx="256032" cy="25603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029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59669"/>
                </a:solidFill>
                <a:latin typeface="Segoe UI"/>
              </a:rPr>
              <a:t>Green stages are the built-in guardrails that keep output grounded and hallucination-free.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321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PII is masked locally before any model call. Transcripts get speech cleanup while BRDs and specs keep their own structure — auto-detected, or set with a one-click toggle. Drafting runs concurrently; each draft can pause to ask a clear, item-specific question rather than guess.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BUILT FOR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Five layers that stop hallucination before it reaches your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28800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1  ·  De-identify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920240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PII/PHI is masked locally before any LLM call — the model never sees raw personal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24912"/>
            <a:ext cx="10835640" cy="77724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43784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2  ·  Ground in your world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816352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Every item is written against your application's real business flow and tech stack.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21024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739896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3  ·  Ask, don't invent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12463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When a fact is missing, the agent asks a targeted question instead of fabricating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17136"/>
            <a:ext cx="10835640" cy="77724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636007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4  ·  Score every item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608575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An independent validator rates each item 0–100 against INVEST quality criteria.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413248"/>
            <a:ext cx="10835640" cy="77724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53212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5  ·  Gate before filing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504688"/>
            <a:ext cx="7040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Segoe UI"/>
              </a:rPr>
              <a:t>Below-threshold items are held for a BA to review — never auto-pushed to JIRA.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The agent gives skilled BA hours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52120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1965960"/>
          <a:ext cx="521208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" y="5806440"/>
            <a:ext cx="10835640" cy="640080"/>
          </a:xfrm>
          <a:prstGeom prst="roundRect">
            <a:avLst/>
          </a:prstGeom>
          <a:solidFill>
            <a:srgbClr val="E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97880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59669"/>
                </a:solidFill>
                <a:latin typeface="Segoe UI"/>
              </a:rPr>
              <a:t>~80% less effort per story  ·  ~150 BA hours reclaimed per team every month.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Reclaimed hours convert directly into billing savings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658368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201168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2011680"/>
            <a:ext cx="109728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1271" y="215798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$126K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1" y="279806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saved per team, per year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20040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35240" y="3200400"/>
            <a:ext cx="109728" cy="1051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334670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0B981"/>
                </a:solidFill>
                <a:latin typeface="Segoe UI"/>
              </a:rPr>
              <a:t>$1.0M+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398678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per year across 8 delivery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4389120"/>
            <a:ext cx="3886200" cy="10515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4389120"/>
            <a:ext cx="109728" cy="10515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1" y="4535424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9E0B"/>
                </a:solidFill>
                <a:latin typeface="Segoe UI"/>
              </a:rPr>
              <a:t>&lt; 2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1" y="5175504"/>
            <a:ext cx="3520440" cy="228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illustrative payback period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43600"/>
            <a:ext cx="10835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Segoe UI"/>
              </a:rPr>
              <a:t>Illustrative model: 250 stories / team / month, 45 → 9 min per story, blended BA rate $70/hr. Swap in your own volumes and rates to size the opportunity.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IMPACT ·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More backlog, faster — without adding headcount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1965960"/>
          <a:ext cx="55778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219456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10B981"/>
                </a:solidFill>
                <a:latin typeface="Segoe UI"/>
              </a:rPr>
              <a:t>5×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2937"/>
                </a:solidFill>
                <a:latin typeface="Segoe UI"/>
              </a:rPr>
              <a:t>more sprint-ready items per BA each day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Segoe UI"/>
              </a:rPr>
              <a:t>Discovery-to-backlog time drops from days to minutes, so planning is never waiting on ticket-writing. Peaks are absorbed by concurrency, not overtime.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BOTTOM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What this means for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109728" cy="1600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less BA effort per 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109728" cy="1600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0B981"/>
                </a:solidFill>
                <a:latin typeface="Segoe UI"/>
              </a:rPr>
              <a:t>150 hrs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reclaimed / team /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011680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9016" y="2011680"/>
            <a:ext cx="109728" cy="1600200"/>
          </a:xfrm>
          <a:prstGeom prst="round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8" y="2157984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3730A3"/>
                </a:solidFill>
                <a:latin typeface="Segoe UI"/>
              </a:rPr>
              <a:t>$126K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79806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saved / team / year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109728" cy="1600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59669"/>
                </a:solidFill>
                <a:latin typeface="Segoe UI"/>
              </a:rPr>
              <a:t>$1.0M+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/ year at 8 teams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07408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07408" y="3867912"/>
            <a:ext cx="109728" cy="16002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9E0B"/>
                </a:solidFill>
                <a:latin typeface="Segoe UI"/>
              </a:rPr>
              <a:t>5×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backlog throughput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9016" y="3867912"/>
            <a:ext cx="3520440" cy="16002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29016" y="3867912"/>
            <a:ext cx="109728" cy="1600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40142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46E5"/>
                </a:solidFill>
                <a:latin typeface="Segoe U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65429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937"/>
                </a:solidFill>
                <a:latin typeface="Segoe UI"/>
              </a:rPr>
              <a:t>PII masked before any LLM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WHY WE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Why this agent beats anything else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691640"/>
          <a:ext cx="108356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668780"/>
                <a:gridCol w="1668780"/>
                <a:gridCol w="1668780"/>
                <a:gridCol w="16687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Generic AI chat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JIRA built-in AI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Other backlog tools</a:t>
                      </a:r>
                    </a:p>
                  </a:txBody>
                  <a:tcPr anchor="ctr" marL="76200" marR="50800" marT="25400" marB="25400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This Agent</a:t>
                      </a:r>
                    </a:p>
                  </a:txBody>
                  <a:tcPr anchor="ctr" marL="76200" marR="50800" marT="25400" marB="25400">
                    <a:solidFill>
                      <a:srgbClr val="05966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PII / PHI redaction before any LLM call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Grounded in your app's business &amp; tech context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Asks clarifying questions instead of inventing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INVEST quality score on every item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Auto-refines items below the quality bar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Quality gate before auto-create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One-click create &amp; update in JIRA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E14B4B"/>
                          </a:solidFill>
                          <a:latin typeface="Segoe UI"/>
                        </a:rPr>
                        <a:t>✗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Multi-language input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Human-in-the-loop edits &amp; custom prompts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Segoe UI"/>
                        </a:rPr>
                        <a:t>Structured Epics / Stories / Bugs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59E0B"/>
                          </a:solidFill>
                          <a:latin typeface="Segoe UI"/>
                        </a:rPr>
                        <a:t>~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59669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76200" marR="50800" marT="12700" marB="12700">
                    <a:solidFill>
                      <a:srgbClr val="E7F7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355080"/>
            <a:ext cx="10835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✓ full    ~ partial / manual    ✗ not available          (market positioning, illustrative)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THE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The moat: grounded + verified + compliant + integrated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8356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grounded, not generic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answers come from your application knowledge base, so terminology and scope are right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verifies its own work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independent scoring + auto-refine + a quality gate mean weak output never reaches JIRA silently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knows when to ask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interactive, per-item questions turn ambiguity into accuracy instead of confident guesses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compliance-first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local PII/PHI masking before any model call — ready for regulated, healthcare-grade environments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is end-to-end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transcripts and BRDs → structured, validated backlog → live JIRA items, in one flow, in minutes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It keeps humans in control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one-click edits, custom prompts, previews, and review gates — trust by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A validated backlog in minutes — not hours.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7CBE8"/>
                </a:solidFill>
                <a:latin typeface="Segoe UI"/>
              </a:rPr>
              <a:t>The AI JIRA Story Generator turns meeting transcripts and BRDs into grounded, quality-scored, compliant work items and files them straight into JIRA.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108960"/>
            <a:ext cx="201168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 b="0">
                <a:solidFill>
                  <a:srgbClr val="E5E7F4"/>
                </a:solidFill>
                <a:latin typeface="Segoe UI"/>
              </a:rPr>
              <a:t>~80% less BA authoring effort — about 150 hours reclaimed per team each month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 b="0">
                <a:solidFill>
                  <a:srgbClr val="E5E7F4"/>
                </a:solidFill>
                <a:latin typeface="Segoe UI"/>
              </a:rPr>
              <a:t>~$1.0M+ in annual billing savings at 8 delivery teams (illustrative)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 b="0">
                <a:solidFill>
                  <a:srgbClr val="E5E7F4"/>
                </a:solidFill>
                <a:latin typeface="Segoe UI"/>
              </a:rPr>
              <a:t>Grounded, self-verifying and compliance-first — it asks when unsure and gates weak output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✓  </a:t>
            </a:r>
            <a:r>
              <a:rPr sz="1500" b="0">
                <a:solidFill>
                  <a:srgbClr val="E5E7F4"/>
                </a:solidFill>
                <a:latin typeface="Segoe UI"/>
              </a:rPr>
              <a:t>End-to-end and human-in-the-loop: transcripts &amp; BRDs → validated backlog → live 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EA4C9"/>
                </a:solidFill>
                <a:latin typeface="Segoe UI"/>
              </a:rPr>
              <a:t>AI JIRA Story Generator  ·  Business Case  ·  Illustrative model — replace with your actuals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46E5"/>
                </a:solidFill>
                <a:latin typeface="Segoe UI"/>
              </a:rPr>
              <a:t>ANY SOURCE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1323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2937"/>
                </a:solidFill>
                <a:latin typeface="Segoe UI"/>
              </a:rPr>
              <a:t>One agent for meeting transcripts and BRDs alike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2011680" cy="411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8356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Two front doors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paste a meeting transcript, or upload a BRD, PRD, or spec (.txt, .md, .docx, .pdf)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Auto-detected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the agent recognizes transcript vs. structured document, or you set the mode with a one-click toggle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Handled on its own terms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transcripts get speech cleanup and inferred story boundaries; BRDs keep their own headings and itemization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Grounded in your docs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an optional Confluence page and its attached PDFs are pulled in as context and linked back on every filed issue</a:t>
            </a:r>
          </a:p>
          <a:p>
            <a:pPr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●  </a:t>
            </a:r>
            <a:r>
              <a:rPr sz="1500" b="1">
                <a:solidFill>
                  <a:srgbClr val="1F2937"/>
                </a:solidFill>
                <a:latin typeface="Segoe UI"/>
              </a:rPr>
              <a:t>Same guardrails, either way</a:t>
            </a:r>
            <a:r>
              <a:rPr sz="1400" b="0">
                <a:solidFill>
                  <a:srgbClr val="6B7280"/>
                </a:solidFill>
                <a:latin typeface="Segoe UI"/>
              </a:rPr>
              <a:t>  —  local PII masking, targeted questions, INVEST scoring, and the quality gate apply to every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AI JIRA Story Generator  ·  Business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
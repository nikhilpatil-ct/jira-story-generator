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F46C5"/>
                </a:solidFill>
                <a:latin typeface="Consolas"/>
              </a:rPr>
              <a:t>SYSTEM DESIGN —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61A23"/>
                </a:solidFill>
                <a:latin typeface="Calibri"/>
              </a:rPr>
              <a:t>AI JIRA Story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A6472"/>
                </a:solidFill>
                <a:latin typeface="Calibri"/>
              </a:rPr>
              <a:t>A conversational pipeline that turns raw meeting notes into validated,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A6472"/>
                </a:solidFill>
                <a:latin typeface="Calibri"/>
              </a:rPr>
              <a:t>INVEST-scored JIRA stories using Claude, then pushes them to a JIRA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A6472"/>
                </a:solidFill>
                <a:latin typeface="Calibri"/>
              </a:rPr>
              <a:t>Cloud project on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61A23"/>
                </a:solidFill>
                <a:latin typeface="Calibri"/>
              </a:rPr>
              <a:t>Status  </a:t>
            </a:r>
            <a:r>
              <a:rPr sz="1000">
                <a:solidFill>
                  <a:srgbClr val="5A6472"/>
                </a:solidFill>
                <a:latin typeface="Calibri"/>
              </a:rPr>
              <a:t>Working draft    </a:t>
            </a:r>
            <a:r>
              <a:rPr b="1" sz="1000">
                <a:solidFill>
                  <a:srgbClr val="161A23"/>
                </a:solidFill>
                <a:latin typeface="Calibri"/>
              </a:rPr>
              <a:t>Updated  </a:t>
            </a:r>
            <a:r>
              <a:rPr sz="1000">
                <a:solidFill>
                  <a:srgbClr val="5A6472"/>
                </a:solidFill>
                <a:latin typeface="Calibri"/>
              </a:rPr>
              <a:t>2026-07-14    </a:t>
            </a:r>
            <a:r>
              <a:rPr b="1" sz="1000">
                <a:solidFill>
                  <a:srgbClr val="161A23"/>
                </a:solidFill>
                <a:latin typeface="Calibri"/>
              </a:rPr>
              <a:t>Owner  </a:t>
            </a:r>
            <a:r>
              <a:rPr sz="1000">
                <a:solidFill>
                  <a:srgbClr val="5A6472"/>
                </a:solidFill>
                <a:latin typeface="Calibri"/>
              </a:rPr>
              <a:t>Nikhil Patil    </a:t>
            </a:r>
            <a:r>
              <a:rPr b="1" sz="1000">
                <a:solidFill>
                  <a:srgbClr val="161A23"/>
                </a:solidFill>
                <a:latin typeface="Calibri"/>
              </a:rPr>
              <a:t>Runtime  </a:t>
            </a:r>
            <a:r>
              <a:rPr sz="1000">
                <a:solidFill>
                  <a:srgbClr val="5A6472"/>
                </a:solidFill>
                <a:latin typeface="Calibri"/>
              </a:rPr>
              <a:t>FastAPI + React (Vite) +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3A1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61A23"/>
                </a:solidFill>
                <a:latin typeface="Calibri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24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7899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61A23"/>
                </a:solidFill>
                <a:latin typeface="Calibri"/>
              </a:rPr>
              <a:t>The app is a single chat surface backed by a small FastAPI service. A user pastes unstructured text — meeting notes, a feature idea — and an orchestrator agent decides, turn by turn, whether to ask a clarifying question, run the generation pipeline, revise a draft, or push approved stories to JIRA.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61A23"/>
                </a:solidFill>
                <a:latin typeface="Calibri"/>
              </a:rPr>
              <a:t>Session state (conversation history, drafted stories, stage) lives in a single in-memory store keyed by session_id, so the whole system is one process with no database. Story quality is enforced by a second loop inside generation: each requirement is drafted, scored by a validator agent against INVEST criteria, and refined automatically until it passes or a retry budget runs out — before the user ever sees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EEECFB"/>
          </a:solidFill>
          <a:ln w="13970">
            <a:solidFill>
              <a:srgbClr val="4F46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73152" tIns="128016" bIns="36576"/>
          <a:lstStyle/>
          <a:p>
            <a:pPr algn="l"/>
            <a:r>
              <a:rPr sz="2600" b="1">
                <a:solidFill>
                  <a:srgbClr val="4F46C5"/>
                </a:solidFill>
                <a:latin typeface="Calibri"/>
              </a:rPr>
              <a:t>3</a:t>
            </a:r>
            <a:r>
              <a:rPr sz="1100" b="1">
                <a:solidFill>
                  <a:srgbClr val="161A23"/>
                </a:solidFill>
                <a:latin typeface="Calibri"/>
              </a:rPr>
              <a:t>  agents</a:t>
            </a:r>
          </a:p>
          <a:p>
            <a:pPr algn="l"/>
            <a:r>
              <a:rPr sz="950">
                <a:solidFill>
                  <a:srgbClr val="5A6472"/>
                </a:solidFill>
                <a:latin typeface="Calibri"/>
              </a:rPr>
              <a:t>orchestrator, drafter/validator, extractor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66344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E3F2F2"/>
          </a:solidFill>
          <a:ln w="13970">
            <a:solidFill>
              <a:srgbClr val="0F7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73152" tIns="128016" bIns="36576"/>
          <a:lstStyle/>
          <a:p>
            <a:pPr algn="l"/>
            <a:r>
              <a:rPr sz="2600" b="1">
                <a:solidFill>
                  <a:srgbClr val="0F7D8C"/>
                </a:solidFill>
                <a:latin typeface="Calibri"/>
              </a:rPr>
              <a:t>2</a:t>
            </a:r>
            <a:r>
              <a:rPr sz="1100" b="1">
                <a:solidFill>
                  <a:srgbClr val="161A23"/>
                </a:solidFill>
                <a:latin typeface="Calibri"/>
              </a:rPr>
              <a:t>  state machine stages</a:t>
            </a:r>
          </a:p>
          <a:p>
            <a:pPr algn="l"/>
            <a:r>
              <a:rPr sz="950">
                <a:solidFill>
                  <a:srgbClr val="5A6472"/>
                </a:solidFill>
                <a:latin typeface="Calibri"/>
              </a:rPr>
              <a:t>gathering → reviewing (→ done)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663440"/>
            <a:ext cx="3520440" cy="141732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 w="13970">
            <a:solidFill>
              <a:srgbClr val="B87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73152" tIns="128016" bIns="36576"/>
          <a:lstStyle/>
          <a:p>
            <a:pPr algn="l"/>
            <a:r>
              <a:rPr sz="2600" b="1">
                <a:solidFill>
                  <a:srgbClr val="B8720A"/>
                </a:solidFill>
                <a:latin typeface="Calibri"/>
              </a:rPr>
              <a:t>1</a:t>
            </a:r>
            <a:r>
              <a:rPr sz="1100" b="1">
                <a:solidFill>
                  <a:srgbClr val="161A23"/>
                </a:solidFill>
                <a:latin typeface="Calibri"/>
              </a:rPr>
              <a:t>  retry loop</a:t>
            </a:r>
          </a:p>
          <a:p>
            <a:pPr algn="l"/>
            <a:r>
              <a:rPr sz="950">
                <a:solidFill>
                  <a:srgbClr val="5A6472"/>
                </a:solidFill>
                <a:latin typeface="Calibri"/>
              </a:rPr>
              <a:t>draft → validate → refine per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3A1"/>
                </a:solidFill>
                <a:latin typeface="Consolas"/>
              </a:rPr>
              <a:t>app/main.py · app/pipeline.py · app/agents/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3A1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61A23"/>
                </a:solidFill>
                <a:latin typeface="Calibri"/>
              </a:rPr>
              <a:t>Request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24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472"/>
                </a:solidFill>
                <a:latin typeface="Calibri"/>
              </a:rPr>
              <a:t>Every message passes through POST /api/chat, which reads the session's stage and dispatches accordingly.</a:t>
            </a:r>
          </a:p>
        </p:txBody>
      </p:sp>
      <p:pic>
        <p:nvPicPr>
          <p:cNvPr id="7" name="Picture 6" descr="diagra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20" y="1783080"/>
            <a:ext cx="6405880" cy="44348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6355080"/>
            <a:ext cx="109728" cy="109728"/>
          </a:xfrm>
          <a:prstGeom prst="ellipse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2636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472"/>
                </a:solidFill>
                <a:latin typeface="Calibri"/>
              </a:rPr>
              <a:t>API / control flow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6355080"/>
            <a:ext cx="109728" cy="109728"/>
          </a:xfrm>
          <a:prstGeom prst="ellipse">
            <a:avLst/>
          </a:prstGeom>
          <a:solidFill>
            <a:srgbClr val="4F4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62636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472"/>
                </a:solidFill>
                <a:latin typeface="Calibri"/>
              </a:rPr>
              <a:t>Claude call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0" y="6355080"/>
            <a:ext cx="109728" cy="109728"/>
          </a:xfrm>
          <a:prstGeom prst="ellipse">
            <a:avLst/>
          </a:prstGeom>
          <a:solidFill>
            <a:srgbClr val="0F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62636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472"/>
                </a:solidFill>
                <a:latin typeface="Calibri"/>
              </a:rPr>
              <a:t>external system (JIRA)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0" y="6355080"/>
            <a:ext cx="109728" cy="109728"/>
          </a:xfrm>
          <a:prstGeom prst="ellipse">
            <a:avLst/>
          </a:prstGeom>
          <a:solidFill>
            <a:srgbClr val="B87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62636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472"/>
                </a:solidFill>
                <a:latin typeface="Calibri"/>
              </a:rPr>
              <a:t>expands in §3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3A1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61A23"/>
                </a:solidFill>
                <a:latin typeface="Calibri"/>
              </a:rPr>
              <a:t>Generation sub-flow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24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472"/>
                </a:solidFill>
                <a:latin typeface="Calibri"/>
              </a:rPr>
              <a:t>generate_stories() runs once per requirement — the only automatic retry loop in the system.</a:t>
            </a:r>
          </a:p>
        </p:txBody>
      </p:sp>
      <p:pic>
        <p:nvPicPr>
          <p:cNvPr id="7" name="Picture 6" descr="diagra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63" y="1828800"/>
            <a:ext cx="8034793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989320"/>
            <a:ext cx="2743200" cy="384048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161A23"/>
                </a:solidFill>
                <a:latin typeface="Consolas"/>
              </a:rPr>
              <a:t>MAX_REFINEMENT_ATTEMPTS  </a:t>
            </a:r>
            <a:r>
              <a:rPr sz="900">
                <a:solidFill>
                  <a:srgbClr val="5A6472"/>
                </a:solidFill>
                <a:latin typeface="Consolas"/>
              </a:rPr>
              <a:t>default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5989320"/>
            <a:ext cx="2743200" cy="384048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161A23"/>
                </a:solidFill>
                <a:latin typeface="Consolas"/>
              </a:rPr>
              <a:t>VALIDATION_PASS_SCORE  </a:t>
            </a:r>
            <a:r>
              <a:rPr sz="900">
                <a:solidFill>
                  <a:srgbClr val="5A6472"/>
                </a:solidFill>
                <a:latin typeface="Consolas"/>
              </a:rPr>
              <a:t>default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3A1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61A23"/>
                </a:solidFill>
                <a:latin typeface="Calibri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24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app/main.py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FastAPI app; /api/chat, /api/reset, /health; stage 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app/agents/base.py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Shared structured_call() — wraps AsyncAnthropic().messages.parse()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app/agents/orchestrator.py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Classifies the user's latest message into an action per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app/agents/extractor.py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Splits raw text into independent requirements + open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718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app/agents/drafter.py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Writes (draft) or revises (refine) a JIRA 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app/agents/validator.py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Scores a story 0–100 against INVEST criteria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app/pipeline.py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Runs extract → draft → validate → refine across requirements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52628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app/services/jira_client.py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Builds ADF description, posts to JIRA Cloud REST v3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52628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/>
            <a:r>
              <a:rPr sz="1100" b="1">
                <a:solidFill>
                  <a:srgbClr val="4F46C5"/>
                </a:solidFill>
                <a:latin typeface="Consolas"/>
              </a:rPr>
              <a:t>app/services/session_store.py</a:t>
            </a:r>
          </a:p>
          <a:p>
            <a:pPr algn="l">
              <a:spcBef>
                <a:spcPts val="400"/>
              </a:spcBef>
            </a:pPr>
            <a:r>
              <a:rPr sz="950">
                <a:solidFill>
                  <a:srgbClr val="5A6472"/>
                </a:solidFill>
                <a:latin typeface="Calibri"/>
              </a:rPr>
              <a:t>In-memory dict[session_id, SessionState]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3A1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61A23"/>
                </a:solidFill>
                <a:latin typeface="Calibri"/>
              </a:rP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24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472"/>
                </a:solidFill>
                <a:latin typeface="Calibri"/>
              </a:rPr>
              <a:t>Pydantic schemas in app/models/schemas.py, used directly as Claude's structured output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6118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73152" tIns="109728" bIns="36576"/>
          <a:lstStyle/>
          <a:p>
            <a:pPr algn="l"/>
            <a:r>
              <a:rPr sz="1200" b="1">
                <a:solidFill>
                  <a:srgbClr val="4F46C5"/>
                </a:solidFill>
                <a:latin typeface="Consolas"/>
              </a:rPr>
              <a:t>JiraStory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summary: string ≤100c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user_story: As a / I want / so that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acceptance_criteria: string[3–6]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story_points: int | null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priority · labels · issue_type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83080"/>
            <a:ext cx="36118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73152" tIns="109728" bIns="36576"/>
          <a:lstStyle/>
          <a:p>
            <a:pPr algn="l"/>
            <a:r>
              <a:rPr sz="1200" b="1">
                <a:solidFill>
                  <a:srgbClr val="4F46C5"/>
                </a:solidFill>
                <a:latin typeface="Consolas"/>
              </a:rPr>
              <a:t>ExtractionResult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requirements: ExtractedRequirement[]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open_questions: string[]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83080"/>
            <a:ext cx="36118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73152" tIns="109728" bIns="36576"/>
          <a:lstStyle/>
          <a:p>
            <a:pPr algn="l"/>
            <a:r>
              <a:rPr sz="1200" b="1">
                <a:solidFill>
                  <a:srgbClr val="4F46C5"/>
                </a:solidFill>
                <a:latin typeface="Consolas"/>
              </a:rPr>
              <a:t>ValidationResult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is_valid: bool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score: int 0–100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issues: {field, problem, suggestion}[]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36118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73152" tIns="109728" bIns="36576"/>
          <a:lstStyle/>
          <a:p>
            <a:pPr algn="l"/>
            <a:r>
              <a:rPr sz="1200" b="1">
                <a:solidFill>
                  <a:srgbClr val="4F46C5"/>
                </a:solidFill>
                <a:latin typeface="Consolas"/>
              </a:rPr>
              <a:t>GeneratedStory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story: JiraStory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validation: ValidationResult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attempts: 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703320"/>
            <a:ext cx="36118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73152" tIns="109728" bIns="36576"/>
          <a:lstStyle/>
          <a:p>
            <a:pPr algn="l"/>
            <a:r>
              <a:rPr sz="1200" b="1">
                <a:solidFill>
                  <a:srgbClr val="4F46C5"/>
                </a:solidFill>
                <a:latin typeface="Consolas"/>
              </a:rPr>
              <a:t>OrchestratorDecision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action: ask_clarification | ready_to_generate |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confirm_create | revise | chat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target_story_index · revision_instructions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03320"/>
            <a:ext cx="361188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73152" tIns="109728" bIns="36576"/>
          <a:lstStyle/>
          <a:p>
            <a:pPr algn="l"/>
            <a:r>
              <a:rPr sz="1200" b="1">
                <a:solidFill>
                  <a:srgbClr val="4F46C5"/>
                </a:solidFill>
                <a:latin typeface="Consolas"/>
              </a:rPr>
              <a:t>SessionState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stage: gathering | reviewing | done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history · raw_text_parts · stories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5A6472"/>
                </a:solidFill>
                <a:latin typeface="Consolas"/>
              </a:rPr>
              <a:t>jira_results: dict[]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A93A1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61A23"/>
                </a:solidFill>
                <a:latin typeface="Calibri"/>
              </a:rPr>
              <a:t>Known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240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36192"/>
            <a:ext cx="91440" cy="91440"/>
          </a:xfrm>
          <a:prstGeom prst="ellipse">
            <a:avLst/>
          </a:prstGeom>
          <a:solidFill>
            <a:srgbClr val="4F4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61A23"/>
                </a:solidFill>
                <a:latin typeface="Calibri"/>
              </a:rPr>
              <a:t>Single-process state.  </a:t>
            </a:r>
            <a:r>
              <a:rPr sz="1200">
                <a:solidFill>
                  <a:srgbClr val="5A6472"/>
                </a:solidFill>
                <a:latin typeface="Calibri"/>
              </a:rPr>
              <a:t>session_store is a module-level dict — sessions are lost on restart, not shared across workers.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68880"/>
            <a:ext cx="91440" cy="91440"/>
          </a:xfrm>
          <a:prstGeom prst="ellipse">
            <a:avLst/>
          </a:prstGeom>
          <a:solidFill>
            <a:srgbClr val="4F4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61A23"/>
                </a:solidFill>
                <a:latin typeface="Calibri"/>
              </a:rPr>
              <a:t>No auth on the API.  </a:t>
            </a:r>
            <a:r>
              <a:rPr sz="1200">
                <a:solidFill>
                  <a:srgbClr val="5A6472"/>
                </a:solidFill>
                <a:latin typeface="Calibri"/>
              </a:rPr>
              <a:t>/api/chat and /api/reset take a bare session_id with no ownership check.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01568"/>
            <a:ext cx="91440" cy="91440"/>
          </a:xfrm>
          <a:prstGeom prst="ellipse">
            <a:avLst/>
          </a:prstGeom>
          <a:solidFill>
            <a:srgbClr val="4F4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61A23"/>
                </a:solidFill>
                <a:latin typeface="Calibri"/>
              </a:rPr>
              <a:t>No explicit “done” handling.  </a:t>
            </a:r>
            <a:r>
              <a:rPr sz="1200">
                <a:solidFill>
                  <a:srgbClr val="5A6472"/>
                </a:solidFill>
                <a:latin typeface="Calibri"/>
              </a:rPr>
              <a:t>After JIRA creation, later messages still reach the orchestrator but nothing acts on them — needs /api/reset.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34256"/>
            <a:ext cx="91440" cy="91440"/>
          </a:xfrm>
          <a:prstGeom prst="ellipse">
            <a:avLst/>
          </a:prstGeom>
          <a:solidFill>
            <a:srgbClr val="4F4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61104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61A23"/>
                </a:solidFill>
                <a:latin typeface="Calibri"/>
              </a:rPr>
              <a:t>One JIRA project, one issue mapping.  </a:t>
            </a:r>
            <a:r>
              <a:rPr sz="1200">
                <a:solidFill>
                  <a:srgbClr val="5A6472"/>
                </a:solidFill>
                <a:latin typeface="Calibri"/>
              </a:rPr>
              <a:t>No epic linking; story points only set if JIRA_STORY_POINTS_FIELD is configured.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266944"/>
            <a:ext cx="91440" cy="91440"/>
          </a:xfrm>
          <a:prstGeom prst="ellipse">
            <a:avLst/>
          </a:prstGeom>
          <a:solidFill>
            <a:srgbClr val="4F4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93792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61A23"/>
                </a:solidFill>
                <a:latin typeface="Calibri"/>
              </a:rPr>
              <a:t>Secrets via .env.  </a:t>
            </a:r>
            <a:r>
              <a:rPr sz="1200">
                <a:solidFill>
                  <a:srgbClr val="5A6472"/>
                </a:solidFill>
                <a:latin typeface="Calibri"/>
              </a:rPr>
              <a:t>ANTHROPIC_API_KEY and JIRA_API_TOKEN load through dotenv — keep real values out of any checked-in example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3A1"/>
                </a:solidFill>
                <a:latin typeface="Consolas"/>
              </a:rPr>
              <a:t>Regenerate after material changes to app/main.py, app/pipeline.py, or app/models/schemas.py.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